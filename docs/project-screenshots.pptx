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275" r:id="rId20"/>
    <p:sldId id="269" r:id="rId21"/>
    <p:sldId id="276" r:id="rId22"/>
    <p:sldId id="277" r:id="rId23"/>
    <p:sldId id="278" r:id="rId24"/>
    <p:sldId id="279" r:id="rId25"/>
    <p:sldId id="280" r:id="rId26"/>
    <p:sldId id="282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C097B-4713-EC48-29D0-0B3051C8E5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FD62F4-3F7E-3776-1E78-3FED83EDA8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D6FAC-E27E-6AFE-61B4-8F9B98601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4EAA-3283-4011-832E-73BE8013127A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4211B-EC6C-1536-A728-5726FBACE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1CC33-D0BE-24B7-983B-691E1AE4A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1F1D-BEE8-42AB-98E2-3FA0FDE651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9170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9375D-BCE9-88ED-787A-40E59D372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3B5D8-C3FF-9485-1D15-EA50DEC9AD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AFEFA8-C4D3-0182-DAA2-7EE865226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4EAA-3283-4011-832E-73BE8013127A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A27383-28E4-66E1-8A26-8CDDEE454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B59B5B-CE90-A1BC-4B15-501B808D4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1F1D-BEE8-42AB-98E2-3FA0FDE651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6268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76638-045A-9E34-CB17-025D30396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EF15F8-938A-E549-FA0B-E470EB2F8C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EE6E7-907C-1411-693A-174C8FC41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4EAA-3283-4011-832E-73BE8013127A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E3C702-636D-EA3F-54D1-20BEBDB19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BFEA1E-44FA-9B99-0972-40597841A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1F1D-BEE8-42AB-98E2-3FA0FDE651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2627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174DF-7C19-649D-7E57-C65EC420E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1763B-673F-5B20-0AA1-B587F21E03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750438-9F88-2773-4EEC-F60D34533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8F0ABE-FC86-FB6F-36A5-BF772DBF4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4EAA-3283-4011-832E-73BE8013127A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DBEAA4-AEE6-4DBE-2B2E-3F1978C84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9C7811-B268-C2DA-0A27-66F874B5B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1F1D-BEE8-42AB-98E2-3FA0FDE651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5091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A7CED-F45D-4A23-BD8B-94419710E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01650A-87F5-AE71-60C3-5FD15EEC0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DBB7D6-4A77-3C08-BA33-1ED9770022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49BC19-D557-CA7E-26AC-A3904EA841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B5B43E-E5D0-8005-683F-4D02170B8A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7D4AE1-BDAF-DE35-03AF-FD4B310DA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4EAA-3283-4011-832E-73BE8013127A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F3CA9A-04CB-99AF-3DD2-AFB0D7A92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831EB3-B4B5-AC57-3EEB-3F1F421C6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1F1D-BEE8-42AB-98E2-3FA0FDE651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632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BF2C9-FF7E-6373-09CA-6CCC70135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DCE46D-1E22-E25A-17BF-CC0F50C34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4EAA-3283-4011-832E-73BE8013127A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FFA13E-A063-1EBB-B943-C5893BBBD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8C2AC1-5030-B819-4CD3-889974B98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1F1D-BEE8-42AB-98E2-3FA0FDE651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2696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5613C4-C954-C78D-1606-62FDB02B9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4EAA-3283-4011-832E-73BE8013127A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B77060-46B9-44F4-7B1C-528D3AEAD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32ED6-58D2-E4ED-0BA0-C25067DA9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1F1D-BEE8-42AB-98E2-3FA0FDE651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3246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B942E-0222-53EB-57D7-5A4827D36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268E9-1782-B3DA-24B9-657189261A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43F0DA-B741-D677-5D1E-920AA49FE1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149666-4E15-D38F-1EC5-D417D9CF8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4EAA-3283-4011-832E-73BE8013127A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09E2C8-DD63-A607-AE83-08EB1DF00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BA61C6-1B10-ED94-7F91-0E9A50154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1F1D-BEE8-42AB-98E2-3FA0FDE651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1853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10B8D-6CF9-4127-AD56-9EA5D1132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A40B09-B642-4009-F737-04FE579200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1BE61D-D290-0F29-A8E6-B62D79D1CF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131CF2-E12E-9698-BE19-65CFE9F1E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4EAA-3283-4011-832E-73BE8013127A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FA02CB-7B08-7437-F154-79252DC93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8536F-F2BC-BA04-8082-BED7D953D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1F1D-BEE8-42AB-98E2-3FA0FDE651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0914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51A07-04A9-4113-C9D4-9DCA70BA0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F1DD2F-9A55-4DCE-FD03-8551A6381D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C289B-5A33-D559-B1BB-B11BEFAFF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4EAA-3283-4011-832E-73BE8013127A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ABC9D-C16B-1CC2-63AF-DAEB5777C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4CB19-55C2-2439-751C-353DA2DCC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1F1D-BEE8-42AB-98E2-3FA0FDE651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8598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85DAF1-59E3-CBD7-B634-F65C943E9E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9B078E-B9E5-1051-5F28-FF14774FF2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55A512-A5AF-E8D9-1EFB-1BA5D5159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4EAA-3283-4011-832E-73BE8013127A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6BB1E-71F4-A073-60C6-4B459389F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6166C1-DAF1-F83C-BEEA-0F4FB355B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1F1D-BEE8-42AB-98E2-3FA0FDE651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0093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FCB8C4-7FA9-46F8-AFB0-978E9F12C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88E8DA-747F-107F-2807-CB4CCE4BCF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ECD0D-996F-F7A9-C983-07DE8BB945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454EAA-3283-4011-832E-73BE8013127A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380CD-00D1-3E4F-845F-09F79C5911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637E4-40B6-5FDE-9AAD-EE65D778AD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A51F1D-BEE8-42AB-98E2-3FA0FDE651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4972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5F315BA-1B29-A59B-28E1-F222FB2EA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8041"/>
            <a:ext cx="12191999" cy="563995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D44A972-6F60-F237-10C6-A6714F4840DD}"/>
              </a:ext>
            </a:extLst>
          </p:cNvPr>
          <p:cNvSpPr txBox="1"/>
          <p:nvPr/>
        </p:nvSpPr>
        <p:spPr>
          <a:xfrm>
            <a:off x="3506771" y="226243"/>
            <a:ext cx="54109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2060"/>
                </a:solidFill>
                <a:latin typeface="Arial Rounded MT Bold" panose="020F0704030504030204" pitchFamily="34" charset="0"/>
              </a:rPr>
              <a:t>Pushing code changes to GitHub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E1EDC8F-85B8-74C6-6BD8-34CB20F710B6}"/>
              </a:ext>
            </a:extLst>
          </p:cNvPr>
          <p:cNvCxnSpPr/>
          <p:nvPr/>
        </p:nvCxnSpPr>
        <p:spPr>
          <a:xfrm>
            <a:off x="3544479" y="678728"/>
            <a:ext cx="3761295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9021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58187-DF37-2DC0-21DE-AE246883B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F7FA18-A589-2F2A-FB86-21C96FD0A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7344"/>
            <a:ext cx="12192000" cy="5820656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A409C00-2FE2-31AB-C86D-D30DC96980ED}"/>
              </a:ext>
            </a:extLst>
          </p:cNvPr>
          <p:cNvCxnSpPr>
            <a:cxnSpLocks/>
          </p:cNvCxnSpPr>
          <p:nvPr/>
        </p:nvCxnSpPr>
        <p:spPr>
          <a:xfrm>
            <a:off x="2592372" y="678728"/>
            <a:ext cx="5948313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8E76334-FE7E-391C-2A27-E305DFD500B3}"/>
              </a:ext>
            </a:extLst>
          </p:cNvPr>
          <p:cNvSpPr txBox="1"/>
          <p:nvPr/>
        </p:nvSpPr>
        <p:spPr>
          <a:xfrm>
            <a:off x="2592372" y="226243"/>
            <a:ext cx="6325386" cy="369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2060"/>
                </a:solidFill>
                <a:latin typeface="Arial Rounded MT Bold" panose="020F0704030504030204" pitchFamily="34" charset="0"/>
              </a:rPr>
              <a:t>GitHub Actions workflow running upon code change</a:t>
            </a:r>
          </a:p>
        </p:txBody>
      </p:sp>
    </p:spTree>
    <p:extLst>
      <p:ext uri="{BB962C8B-B14F-4D97-AF65-F5344CB8AC3E}">
        <p14:creationId xmlns:p14="http://schemas.microsoft.com/office/powerpoint/2010/main" val="3269947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E6D34-24D2-F3E6-D4BC-FEC8E8578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0F6361-FBA9-74D0-F3CF-53A7B2F4B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8290"/>
            <a:ext cx="12192000" cy="5949709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3C57949-BACF-DA25-AC17-8E92D51670A0}"/>
              </a:ext>
            </a:extLst>
          </p:cNvPr>
          <p:cNvCxnSpPr>
            <a:cxnSpLocks/>
          </p:cNvCxnSpPr>
          <p:nvPr/>
        </p:nvCxnSpPr>
        <p:spPr>
          <a:xfrm>
            <a:off x="2592372" y="678728"/>
            <a:ext cx="5948313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FC88C35-EBCB-BC70-A5EE-9F6CEA3B51A2}"/>
              </a:ext>
            </a:extLst>
          </p:cNvPr>
          <p:cNvSpPr txBox="1"/>
          <p:nvPr/>
        </p:nvSpPr>
        <p:spPr>
          <a:xfrm>
            <a:off x="2592372" y="226243"/>
            <a:ext cx="6325386" cy="369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2060"/>
                </a:solidFill>
                <a:latin typeface="Arial Rounded MT Bold" panose="020F0704030504030204" pitchFamily="34" charset="0"/>
              </a:rPr>
              <a:t>GitHub Actions workflow running upon code change</a:t>
            </a:r>
          </a:p>
        </p:txBody>
      </p:sp>
    </p:spTree>
    <p:extLst>
      <p:ext uri="{BB962C8B-B14F-4D97-AF65-F5344CB8AC3E}">
        <p14:creationId xmlns:p14="http://schemas.microsoft.com/office/powerpoint/2010/main" val="2889520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E6B5A-1A05-6931-A8DA-35401309A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5B23CA-29C8-11A5-DC5C-0374E5AEA2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0816"/>
            <a:ext cx="12192000" cy="5447184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017D8CA-A786-94A5-4DC0-29B927214DF7}"/>
              </a:ext>
            </a:extLst>
          </p:cNvPr>
          <p:cNvCxnSpPr>
            <a:cxnSpLocks/>
          </p:cNvCxnSpPr>
          <p:nvPr/>
        </p:nvCxnSpPr>
        <p:spPr>
          <a:xfrm>
            <a:off x="3091996" y="678728"/>
            <a:ext cx="5156461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3B3829D-0EA1-3C06-93A5-A368C315E4D6}"/>
              </a:ext>
            </a:extLst>
          </p:cNvPr>
          <p:cNvSpPr txBox="1"/>
          <p:nvPr/>
        </p:nvSpPr>
        <p:spPr>
          <a:xfrm>
            <a:off x="3091993" y="226243"/>
            <a:ext cx="6325386" cy="369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2060"/>
                </a:solidFill>
                <a:latin typeface="Arial Rounded MT Bold" panose="020F0704030504030204" pitchFamily="34" charset="0"/>
              </a:rPr>
              <a:t>Docker cluster created and tasks are running</a:t>
            </a:r>
          </a:p>
        </p:txBody>
      </p:sp>
    </p:spTree>
    <p:extLst>
      <p:ext uri="{BB962C8B-B14F-4D97-AF65-F5344CB8AC3E}">
        <p14:creationId xmlns:p14="http://schemas.microsoft.com/office/powerpoint/2010/main" val="781146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FB944-714A-76C7-1A7E-F6BD093B7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D454BB-C5DC-BED3-7408-502096E22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8289"/>
            <a:ext cx="12192000" cy="5349711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1AE786E-B673-9104-E5E0-02F9CF3B87A9}"/>
              </a:ext>
            </a:extLst>
          </p:cNvPr>
          <p:cNvCxnSpPr>
            <a:cxnSpLocks/>
          </p:cNvCxnSpPr>
          <p:nvPr/>
        </p:nvCxnSpPr>
        <p:spPr>
          <a:xfrm>
            <a:off x="3940407" y="678728"/>
            <a:ext cx="3355939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97678F4-4E97-7495-E6BC-3CAA7AEDE5B0}"/>
              </a:ext>
            </a:extLst>
          </p:cNvPr>
          <p:cNvSpPr txBox="1"/>
          <p:nvPr/>
        </p:nvSpPr>
        <p:spPr>
          <a:xfrm>
            <a:off x="3940407" y="226243"/>
            <a:ext cx="6325386" cy="369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2060"/>
                </a:solidFill>
                <a:latin typeface="Arial Rounded MT Bold" panose="020F0704030504030204" pitchFamily="34" charset="0"/>
              </a:rPr>
              <a:t>Task definitions are available</a:t>
            </a:r>
          </a:p>
        </p:txBody>
      </p:sp>
    </p:spTree>
    <p:extLst>
      <p:ext uri="{BB962C8B-B14F-4D97-AF65-F5344CB8AC3E}">
        <p14:creationId xmlns:p14="http://schemas.microsoft.com/office/powerpoint/2010/main" val="864316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8CB6C-A8F9-48BC-FB10-E1A6CD96D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E952C1-4D7F-AD3D-C137-805E7541CB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34532"/>
            <a:ext cx="12192000" cy="5123468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56833EF-4A96-5DCF-034B-8B986F3F4C15}"/>
              </a:ext>
            </a:extLst>
          </p:cNvPr>
          <p:cNvCxnSpPr>
            <a:cxnSpLocks/>
          </p:cNvCxnSpPr>
          <p:nvPr/>
        </p:nvCxnSpPr>
        <p:spPr>
          <a:xfrm>
            <a:off x="3261676" y="678728"/>
            <a:ext cx="5062192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3C6EDBD-C9C1-2DDB-0705-50098DB9684D}"/>
              </a:ext>
            </a:extLst>
          </p:cNvPr>
          <p:cNvSpPr txBox="1"/>
          <p:nvPr/>
        </p:nvSpPr>
        <p:spPr>
          <a:xfrm>
            <a:off x="3261676" y="226243"/>
            <a:ext cx="6325386" cy="369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2060"/>
                </a:solidFill>
                <a:latin typeface="Arial Rounded MT Bold" panose="020F0704030504030204" pitchFamily="34" charset="0"/>
              </a:rPr>
              <a:t>Docker repository has been created on ECR</a:t>
            </a:r>
          </a:p>
        </p:txBody>
      </p:sp>
    </p:spTree>
    <p:extLst>
      <p:ext uri="{BB962C8B-B14F-4D97-AF65-F5344CB8AC3E}">
        <p14:creationId xmlns:p14="http://schemas.microsoft.com/office/powerpoint/2010/main" val="847929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60212-34E6-3B46-8A35-D284A0F6D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DA6F40-B932-4E1F-DE14-EBD07C405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36569"/>
            <a:ext cx="12192000" cy="5321431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59D08F9-D194-D57A-8643-9585BC1F58E2}"/>
              </a:ext>
            </a:extLst>
          </p:cNvPr>
          <p:cNvCxnSpPr>
            <a:cxnSpLocks/>
          </p:cNvCxnSpPr>
          <p:nvPr/>
        </p:nvCxnSpPr>
        <p:spPr>
          <a:xfrm>
            <a:off x="2592372" y="678728"/>
            <a:ext cx="5948313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6545449-9401-F6E4-8527-CF71F2485708}"/>
              </a:ext>
            </a:extLst>
          </p:cNvPr>
          <p:cNvSpPr txBox="1"/>
          <p:nvPr/>
        </p:nvSpPr>
        <p:spPr>
          <a:xfrm>
            <a:off x="2592372" y="226243"/>
            <a:ext cx="6325386" cy="369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solidFill>
                  <a:srgbClr val="002060"/>
                </a:solidFill>
                <a:latin typeface="Arial Rounded MT Bold" panose="020F0704030504030204" pitchFamily="34" charset="0"/>
              </a:rPr>
              <a:t>Dockerfile</a:t>
            </a:r>
            <a:r>
              <a:rPr lang="en-IN" dirty="0">
                <a:solidFill>
                  <a:srgbClr val="002060"/>
                </a:solidFill>
                <a:latin typeface="Arial Rounded MT Bold" panose="020F0704030504030204" pitchFamily="34" charset="0"/>
              </a:rPr>
              <a:t> images are available inside the repository</a:t>
            </a:r>
          </a:p>
        </p:txBody>
      </p:sp>
    </p:spTree>
    <p:extLst>
      <p:ext uri="{BB962C8B-B14F-4D97-AF65-F5344CB8AC3E}">
        <p14:creationId xmlns:p14="http://schemas.microsoft.com/office/powerpoint/2010/main" val="746958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59C04-CB20-BB7D-1EF2-5D28FFF75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CDD335-9AC9-A7D9-C02B-8742045BE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4654"/>
            <a:ext cx="12192000" cy="5583346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BAB8D8C-13B7-EEAB-E6D6-870BE90A631A}"/>
              </a:ext>
            </a:extLst>
          </p:cNvPr>
          <p:cNvCxnSpPr>
            <a:cxnSpLocks/>
          </p:cNvCxnSpPr>
          <p:nvPr/>
        </p:nvCxnSpPr>
        <p:spPr>
          <a:xfrm>
            <a:off x="2592372" y="678728"/>
            <a:ext cx="6344238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1FFED06-85D2-7D79-95A5-70E031F5E1CA}"/>
              </a:ext>
            </a:extLst>
          </p:cNvPr>
          <p:cNvSpPr txBox="1"/>
          <p:nvPr/>
        </p:nvSpPr>
        <p:spPr>
          <a:xfrm>
            <a:off x="2592372" y="226243"/>
            <a:ext cx="6787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2060"/>
                </a:solidFill>
                <a:latin typeface="Arial Rounded MT Bold" panose="020F0704030504030204" pitchFamily="34" charset="0"/>
              </a:rPr>
              <a:t>All the 4 VPC Endpoints have been created successfully</a:t>
            </a:r>
          </a:p>
        </p:txBody>
      </p:sp>
    </p:spTree>
    <p:extLst>
      <p:ext uri="{BB962C8B-B14F-4D97-AF65-F5344CB8AC3E}">
        <p14:creationId xmlns:p14="http://schemas.microsoft.com/office/powerpoint/2010/main" val="3090295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39566-4A87-3014-ED83-83B78CD26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72025F-AAC0-7B91-A3F4-F827D0336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3127"/>
            <a:ext cx="12192000" cy="5465379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39C1484-8EC4-5AFD-E8AF-7EF92CA74E8F}"/>
              </a:ext>
            </a:extLst>
          </p:cNvPr>
          <p:cNvCxnSpPr>
            <a:cxnSpLocks/>
          </p:cNvCxnSpPr>
          <p:nvPr/>
        </p:nvCxnSpPr>
        <p:spPr>
          <a:xfrm>
            <a:off x="3704735" y="678728"/>
            <a:ext cx="3827282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807F8CF-2C59-0524-0473-017CB95A48E5}"/>
              </a:ext>
            </a:extLst>
          </p:cNvPr>
          <p:cNvSpPr txBox="1"/>
          <p:nvPr/>
        </p:nvSpPr>
        <p:spPr>
          <a:xfrm>
            <a:off x="3695310" y="226243"/>
            <a:ext cx="6325386" cy="369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2060"/>
                </a:solidFill>
                <a:latin typeface="Arial Rounded MT Bold" panose="020F0704030504030204" pitchFamily="34" charset="0"/>
              </a:rPr>
              <a:t>First private subnet for ECS tasks</a:t>
            </a:r>
          </a:p>
        </p:txBody>
      </p:sp>
    </p:spTree>
    <p:extLst>
      <p:ext uri="{BB962C8B-B14F-4D97-AF65-F5344CB8AC3E}">
        <p14:creationId xmlns:p14="http://schemas.microsoft.com/office/powerpoint/2010/main" val="3306178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00CC9-E54E-E5B3-877D-17DE4D0C5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47200C-AFFB-A210-5A87-1E7BD43A6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3171"/>
            <a:ext cx="12113443" cy="5435848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AF11EBC-6A78-1CB8-6EFC-B9187E8B6ECC}"/>
              </a:ext>
            </a:extLst>
          </p:cNvPr>
          <p:cNvCxnSpPr>
            <a:cxnSpLocks/>
          </p:cNvCxnSpPr>
          <p:nvPr/>
        </p:nvCxnSpPr>
        <p:spPr>
          <a:xfrm>
            <a:off x="2592372" y="678728"/>
            <a:ext cx="5608948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1B859A8-A41A-2C5E-C369-B336A8ABA867}"/>
              </a:ext>
            </a:extLst>
          </p:cNvPr>
          <p:cNvSpPr txBox="1"/>
          <p:nvPr/>
        </p:nvSpPr>
        <p:spPr>
          <a:xfrm>
            <a:off x="2592372" y="226243"/>
            <a:ext cx="6325386" cy="369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2060"/>
                </a:solidFill>
                <a:latin typeface="Arial Rounded MT Bold" panose="020F0704030504030204" pitchFamily="34" charset="0"/>
              </a:rPr>
              <a:t>First public subnet for Application Load Balancer</a:t>
            </a:r>
          </a:p>
        </p:txBody>
      </p:sp>
    </p:spTree>
    <p:extLst>
      <p:ext uri="{BB962C8B-B14F-4D97-AF65-F5344CB8AC3E}">
        <p14:creationId xmlns:p14="http://schemas.microsoft.com/office/powerpoint/2010/main" val="38023599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EBE61-6577-3ECA-ACA5-0C59F8811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480BED-8ED0-2940-B983-6E3976489B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4" y="1333021"/>
            <a:ext cx="12185436" cy="5524979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45F119C-AE23-F257-6B9A-A226DEBCF52B}"/>
              </a:ext>
            </a:extLst>
          </p:cNvPr>
          <p:cNvCxnSpPr>
            <a:cxnSpLocks/>
          </p:cNvCxnSpPr>
          <p:nvPr/>
        </p:nvCxnSpPr>
        <p:spPr>
          <a:xfrm>
            <a:off x="2592372" y="678728"/>
            <a:ext cx="5957739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8D5C4E7-E6BC-6077-D7DE-05F442DBF47C}"/>
              </a:ext>
            </a:extLst>
          </p:cNvPr>
          <p:cNvSpPr txBox="1"/>
          <p:nvPr/>
        </p:nvSpPr>
        <p:spPr>
          <a:xfrm>
            <a:off x="2592372" y="226243"/>
            <a:ext cx="6325386" cy="369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2060"/>
                </a:solidFill>
                <a:latin typeface="Arial Rounded MT Bold" panose="020F0704030504030204" pitchFamily="34" charset="0"/>
              </a:rPr>
              <a:t>Second public subnet for Application Load Balancer</a:t>
            </a:r>
          </a:p>
        </p:txBody>
      </p:sp>
    </p:spTree>
    <p:extLst>
      <p:ext uri="{BB962C8B-B14F-4D97-AF65-F5344CB8AC3E}">
        <p14:creationId xmlns:p14="http://schemas.microsoft.com/office/powerpoint/2010/main" val="31934191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8F746-AD87-1B9E-96B3-147A4B1C7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383511-7948-922B-C1F0-E510AC034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6848"/>
            <a:ext cx="12066787" cy="5441152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715847F-918B-27AA-21A8-614F966045CE}"/>
              </a:ext>
            </a:extLst>
          </p:cNvPr>
          <p:cNvCxnSpPr>
            <a:cxnSpLocks/>
          </p:cNvCxnSpPr>
          <p:nvPr/>
        </p:nvCxnSpPr>
        <p:spPr>
          <a:xfrm>
            <a:off x="3704735" y="678728"/>
            <a:ext cx="4232634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B16F218-7BF3-549A-37EF-2715FEE6DD2C}"/>
              </a:ext>
            </a:extLst>
          </p:cNvPr>
          <p:cNvSpPr txBox="1"/>
          <p:nvPr/>
        </p:nvSpPr>
        <p:spPr>
          <a:xfrm>
            <a:off x="3695310" y="226243"/>
            <a:ext cx="6325386" cy="369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2060"/>
                </a:solidFill>
                <a:latin typeface="Arial Rounded MT Bold" panose="020F0704030504030204" pitchFamily="34" charset="0"/>
              </a:rPr>
              <a:t>Second private subnet for ECS tasks</a:t>
            </a:r>
          </a:p>
        </p:txBody>
      </p:sp>
    </p:spTree>
    <p:extLst>
      <p:ext uri="{BB962C8B-B14F-4D97-AF65-F5344CB8AC3E}">
        <p14:creationId xmlns:p14="http://schemas.microsoft.com/office/powerpoint/2010/main" val="6250086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53887-B58A-1D60-CA16-714AB173E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7DCEA4-C70B-7F01-157C-F871C9D2BF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37" y="1215198"/>
            <a:ext cx="12071126" cy="5642802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C1EDEE8-F6B7-E10D-0456-4985D13A1C76}"/>
              </a:ext>
            </a:extLst>
          </p:cNvPr>
          <p:cNvCxnSpPr>
            <a:cxnSpLocks/>
          </p:cNvCxnSpPr>
          <p:nvPr/>
        </p:nvCxnSpPr>
        <p:spPr>
          <a:xfrm>
            <a:off x="2422692" y="669301"/>
            <a:ext cx="6627040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0DBB018-1788-0174-FF20-1B9379061CDA}"/>
              </a:ext>
            </a:extLst>
          </p:cNvPr>
          <p:cNvSpPr txBox="1"/>
          <p:nvPr/>
        </p:nvSpPr>
        <p:spPr>
          <a:xfrm>
            <a:off x="2403839" y="226243"/>
            <a:ext cx="6825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2060"/>
                </a:solidFill>
                <a:latin typeface="Arial Rounded MT Bold" panose="020F0704030504030204" pitchFamily="34" charset="0"/>
              </a:rPr>
              <a:t>Public route table for Internet Gateway and Public Subnets</a:t>
            </a:r>
          </a:p>
        </p:txBody>
      </p:sp>
    </p:spTree>
    <p:extLst>
      <p:ext uri="{BB962C8B-B14F-4D97-AF65-F5344CB8AC3E}">
        <p14:creationId xmlns:p14="http://schemas.microsoft.com/office/powerpoint/2010/main" val="40746515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F2A37-D847-4DFA-AAD9-07BF24C22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9428C4-B34C-B496-2E7C-0164C6E454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6521"/>
            <a:ext cx="12192000" cy="5551479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BC2D70D-A461-B99F-02F8-BFE2C3650133}"/>
              </a:ext>
            </a:extLst>
          </p:cNvPr>
          <p:cNvCxnSpPr>
            <a:cxnSpLocks/>
          </p:cNvCxnSpPr>
          <p:nvPr/>
        </p:nvCxnSpPr>
        <p:spPr>
          <a:xfrm>
            <a:off x="2422692" y="669301"/>
            <a:ext cx="6400797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16D9196-4F1D-D368-1460-7A98246E576F}"/>
              </a:ext>
            </a:extLst>
          </p:cNvPr>
          <p:cNvSpPr txBox="1"/>
          <p:nvPr/>
        </p:nvSpPr>
        <p:spPr>
          <a:xfrm>
            <a:off x="2403839" y="226243"/>
            <a:ext cx="6825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2060"/>
                </a:solidFill>
                <a:latin typeface="Arial Rounded MT Bold" panose="020F0704030504030204" pitchFamily="34" charset="0"/>
              </a:rPr>
              <a:t>Private route table for NAT Gateway and Private Subnets</a:t>
            </a:r>
          </a:p>
        </p:txBody>
      </p:sp>
    </p:spTree>
    <p:extLst>
      <p:ext uri="{BB962C8B-B14F-4D97-AF65-F5344CB8AC3E}">
        <p14:creationId xmlns:p14="http://schemas.microsoft.com/office/powerpoint/2010/main" val="22860394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B81F4-48CC-9BF8-8ADD-1B504D1CE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876604-D28E-BC0F-CDB8-20FF671ED6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9542"/>
            <a:ext cx="12191999" cy="5368458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1AB804C-52FE-3AB4-948E-B9B554A08F29}"/>
              </a:ext>
            </a:extLst>
          </p:cNvPr>
          <p:cNvCxnSpPr>
            <a:cxnSpLocks/>
          </p:cNvCxnSpPr>
          <p:nvPr/>
        </p:nvCxnSpPr>
        <p:spPr>
          <a:xfrm>
            <a:off x="4619138" y="669301"/>
            <a:ext cx="2055039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CC5CE41-AC8C-71E4-F478-494BB76CBC50}"/>
              </a:ext>
            </a:extLst>
          </p:cNvPr>
          <p:cNvSpPr txBox="1"/>
          <p:nvPr/>
        </p:nvSpPr>
        <p:spPr>
          <a:xfrm>
            <a:off x="4619138" y="226243"/>
            <a:ext cx="6825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2060"/>
                </a:solidFill>
                <a:latin typeface="Arial Rounded MT Bold" panose="020F0704030504030204" pitchFamily="34" charset="0"/>
              </a:rPr>
              <a:t>Internet Gateway</a:t>
            </a:r>
          </a:p>
        </p:txBody>
      </p:sp>
    </p:spTree>
    <p:extLst>
      <p:ext uri="{BB962C8B-B14F-4D97-AF65-F5344CB8AC3E}">
        <p14:creationId xmlns:p14="http://schemas.microsoft.com/office/powerpoint/2010/main" val="14678944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13EB6-85A1-2941-A2F9-CD041B38C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D6F2F9-6879-CC6B-0069-3EE2E0012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291472"/>
            <a:ext cx="12085163" cy="5566528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06B05AF-ABC4-7355-C3AF-67BD736A7068}"/>
              </a:ext>
            </a:extLst>
          </p:cNvPr>
          <p:cNvCxnSpPr>
            <a:cxnSpLocks/>
          </p:cNvCxnSpPr>
          <p:nvPr/>
        </p:nvCxnSpPr>
        <p:spPr>
          <a:xfrm>
            <a:off x="4345760" y="669301"/>
            <a:ext cx="3120269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53AE1FF-F670-28AA-FB40-6320829A07B6}"/>
              </a:ext>
            </a:extLst>
          </p:cNvPr>
          <p:cNvSpPr txBox="1"/>
          <p:nvPr/>
        </p:nvSpPr>
        <p:spPr>
          <a:xfrm>
            <a:off x="4345760" y="226243"/>
            <a:ext cx="6825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2060"/>
                </a:solidFill>
                <a:latin typeface="Arial Rounded MT Bold" panose="020F0704030504030204" pitchFamily="34" charset="0"/>
              </a:rPr>
              <a:t>Elastic IP for NAT Gateway</a:t>
            </a:r>
          </a:p>
        </p:txBody>
      </p:sp>
    </p:spTree>
    <p:extLst>
      <p:ext uri="{BB962C8B-B14F-4D97-AF65-F5344CB8AC3E}">
        <p14:creationId xmlns:p14="http://schemas.microsoft.com/office/powerpoint/2010/main" val="42370923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B7A0D-4AB4-6CFE-7A85-53B17B95D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705689-5362-02DE-3D34-6E93E3437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8932"/>
            <a:ext cx="12192000" cy="5539068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01C9B15-B554-916E-FDC8-A009FA52E189}"/>
              </a:ext>
            </a:extLst>
          </p:cNvPr>
          <p:cNvCxnSpPr>
            <a:cxnSpLocks/>
          </p:cNvCxnSpPr>
          <p:nvPr/>
        </p:nvCxnSpPr>
        <p:spPr>
          <a:xfrm>
            <a:off x="4930221" y="669301"/>
            <a:ext cx="1602553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0F850B7-8413-3CB8-2D1A-D5CE16F47857}"/>
              </a:ext>
            </a:extLst>
          </p:cNvPr>
          <p:cNvSpPr txBox="1"/>
          <p:nvPr/>
        </p:nvSpPr>
        <p:spPr>
          <a:xfrm>
            <a:off x="4892514" y="226243"/>
            <a:ext cx="6825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2060"/>
                </a:solidFill>
                <a:latin typeface="Arial Rounded MT Bold" panose="020F0704030504030204" pitchFamily="34" charset="0"/>
              </a:rPr>
              <a:t>NAT Gateway</a:t>
            </a:r>
          </a:p>
        </p:txBody>
      </p:sp>
    </p:spTree>
    <p:extLst>
      <p:ext uri="{BB962C8B-B14F-4D97-AF65-F5344CB8AC3E}">
        <p14:creationId xmlns:p14="http://schemas.microsoft.com/office/powerpoint/2010/main" val="5199986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96197-A58E-C637-FC76-471DB0CF9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DF5746-0341-4E62-9A58-770642F2A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88870"/>
            <a:ext cx="12192000" cy="5169130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DA33FCB-71E1-477F-3F77-A200D6ACC8E3}"/>
              </a:ext>
            </a:extLst>
          </p:cNvPr>
          <p:cNvCxnSpPr>
            <a:cxnSpLocks/>
          </p:cNvCxnSpPr>
          <p:nvPr/>
        </p:nvCxnSpPr>
        <p:spPr>
          <a:xfrm>
            <a:off x="3450214" y="669301"/>
            <a:ext cx="4986776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1DC8CB4-F17C-23BD-1472-A885A83CF41E}"/>
              </a:ext>
            </a:extLst>
          </p:cNvPr>
          <p:cNvSpPr txBox="1"/>
          <p:nvPr/>
        </p:nvSpPr>
        <p:spPr>
          <a:xfrm>
            <a:off x="3459644" y="226243"/>
            <a:ext cx="6825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2060"/>
                </a:solidFill>
                <a:latin typeface="Arial Rounded MT Bold" panose="020F0704030504030204" pitchFamily="34" charset="0"/>
              </a:rPr>
              <a:t>Endpoint Security Group for VPC Endpoints</a:t>
            </a:r>
          </a:p>
        </p:txBody>
      </p:sp>
    </p:spTree>
    <p:extLst>
      <p:ext uri="{BB962C8B-B14F-4D97-AF65-F5344CB8AC3E}">
        <p14:creationId xmlns:p14="http://schemas.microsoft.com/office/powerpoint/2010/main" val="2385262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11BC9-0A3D-3FC6-A2F4-2A1DCCF94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62C420-79B0-4610-2174-0F3309B71B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66286"/>
            <a:ext cx="12192000" cy="5291714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1C58D1D-E144-6AE5-73F1-04A842A1F2A7}"/>
              </a:ext>
            </a:extLst>
          </p:cNvPr>
          <p:cNvCxnSpPr>
            <a:cxnSpLocks/>
          </p:cNvCxnSpPr>
          <p:nvPr/>
        </p:nvCxnSpPr>
        <p:spPr>
          <a:xfrm>
            <a:off x="3450214" y="669301"/>
            <a:ext cx="5750347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F0C6156-50F2-651F-0017-991B2817E4D6}"/>
              </a:ext>
            </a:extLst>
          </p:cNvPr>
          <p:cNvSpPr txBox="1"/>
          <p:nvPr/>
        </p:nvSpPr>
        <p:spPr>
          <a:xfrm>
            <a:off x="3459644" y="226243"/>
            <a:ext cx="6825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2060"/>
                </a:solidFill>
                <a:latin typeface="Arial Rounded MT Bold" panose="020F0704030504030204" pitchFamily="34" charset="0"/>
              </a:rPr>
              <a:t>ALB Security Group for Application Load Balancer</a:t>
            </a:r>
          </a:p>
        </p:txBody>
      </p:sp>
    </p:spTree>
    <p:extLst>
      <p:ext uri="{BB962C8B-B14F-4D97-AF65-F5344CB8AC3E}">
        <p14:creationId xmlns:p14="http://schemas.microsoft.com/office/powerpoint/2010/main" val="9523038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E8766-CB48-157C-0748-4658E14F6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50553C-9B46-DEE6-A0BF-C5CAA6188B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2110"/>
            <a:ext cx="12192000" cy="5695890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E8385A8-A732-857B-F645-07E3217E947F}"/>
              </a:ext>
            </a:extLst>
          </p:cNvPr>
          <p:cNvCxnSpPr>
            <a:cxnSpLocks/>
          </p:cNvCxnSpPr>
          <p:nvPr/>
        </p:nvCxnSpPr>
        <p:spPr>
          <a:xfrm>
            <a:off x="2648934" y="669301"/>
            <a:ext cx="5957738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8A28ADA-9B28-1E03-A618-92FC4FE79C42}"/>
              </a:ext>
            </a:extLst>
          </p:cNvPr>
          <p:cNvSpPr txBox="1"/>
          <p:nvPr/>
        </p:nvSpPr>
        <p:spPr>
          <a:xfrm>
            <a:off x="2630088" y="226243"/>
            <a:ext cx="6825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2060"/>
                </a:solidFill>
                <a:latin typeface="Arial Rounded MT Bold" panose="020F0704030504030204" pitchFamily="34" charset="0"/>
              </a:rPr>
              <a:t>Application Security Group for tasks running on ECS</a:t>
            </a:r>
          </a:p>
        </p:txBody>
      </p:sp>
    </p:spTree>
    <p:extLst>
      <p:ext uri="{BB962C8B-B14F-4D97-AF65-F5344CB8AC3E}">
        <p14:creationId xmlns:p14="http://schemas.microsoft.com/office/powerpoint/2010/main" val="23751111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38464-2868-BDF1-5685-335FC2434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FDBA37-E2C7-0E1B-6CD0-00C3C39F3F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847"/>
            <a:ext cx="12028602" cy="5113451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AACB93B-385B-4D1D-29D6-0C80D78E2346}"/>
              </a:ext>
            </a:extLst>
          </p:cNvPr>
          <p:cNvCxnSpPr>
            <a:cxnSpLocks/>
          </p:cNvCxnSpPr>
          <p:nvPr/>
        </p:nvCxnSpPr>
        <p:spPr>
          <a:xfrm>
            <a:off x="4873658" y="707008"/>
            <a:ext cx="1423447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1E008FE-5BC0-DD1D-2477-284CC618DABB}"/>
              </a:ext>
            </a:extLst>
          </p:cNvPr>
          <p:cNvSpPr txBox="1"/>
          <p:nvPr/>
        </p:nvSpPr>
        <p:spPr>
          <a:xfrm>
            <a:off x="2196454" y="226243"/>
            <a:ext cx="6825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rgbClr val="002060"/>
                </a:solidFill>
                <a:latin typeface="Arial Rounded MT Bold" panose="020F0704030504030204" pitchFamily="34" charset="0"/>
              </a:rPr>
              <a:t>IAM Roles</a:t>
            </a:r>
          </a:p>
        </p:txBody>
      </p:sp>
    </p:spTree>
    <p:extLst>
      <p:ext uri="{BB962C8B-B14F-4D97-AF65-F5344CB8AC3E}">
        <p14:creationId xmlns:p14="http://schemas.microsoft.com/office/powerpoint/2010/main" val="3056237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F7B0C-AC96-B8DE-891B-CAD3ADBAE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CD2C97-CE4A-0CCD-D81D-6AFE1C497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2298"/>
            <a:ext cx="12192000" cy="5485702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A9564BF-7296-63A8-50DA-0F32310ABC5E}"/>
              </a:ext>
            </a:extLst>
          </p:cNvPr>
          <p:cNvCxnSpPr>
            <a:cxnSpLocks/>
          </p:cNvCxnSpPr>
          <p:nvPr/>
        </p:nvCxnSpPr>
        <p:spPr>
          <a:xfrm>
            <a:off x="3450214" y="669301"/>
            <a:ext cx="3789572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95330CE-0FF8-D2CE-017A-538E5EE9D535}"/>
              </a:ext>
            </a:extLst>
          </p:cNvPr>
          <p:cNvSpPr txBox="1"/>
          <p:nvPr/>
        </p:nvSpPr>
        <p:spPr>
          <a:xfrm>
            <a:off x="3459644" y="226243"/>
            <a:ext cx="6825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2060"/>
                </a:solidFill>
                <a:latin typeface="Arial Rounded MT Bold" panose="020F0704030504030204" pitchFamily="34" charset="0"/>
              </a:rPr>
              <a:t>CloudWatch Log Group for tasks </a:t>
            </a:r>
          </a:p>
        </p:txBody>
      </p:sp>
    </p:spTree>
    <p:extLst>
      <p:ext uri="{BB962C8B-B14F-4D97-AF65-F5344CB8AC3E}">
        <p14:creationId xmlns:p14="http://schemas.microsoft.com/office/powerpoint/2010/main" val="41793416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4253E-72BA-B0E5-F7CE-8E0572CED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B29ECD-BBFD-06D7-4181-3F133C1152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5635"/>
            <a:ext cx="12192000" cy="5442365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BA27514-7D8B-D131-9C22-4F34E9678A12}"/>
              </a:ext>
            </a:extLst>
          </p:cNvPr>
          <p:cNvCxnSpPr>
            <a:cxnSpLocks/>
          </p:cNvCxnSpPr>
          <p:nvPr/>
        </p:nvCxnSpPr>
        <p:spPr>
          <a:xfrm>
            <a:off x="3450214" y="669301"/>
            <a:ext cx="5128178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7CD8A53-23F2-878F-5167-D147817AAE82}"/>
              </a:ext>
            </a:extLst>
          </p:cNvPr>
          <p:cNvSpPr txBox="1"/>
          <p:nvPr/>
        </p:nvSpPr>
        <p:spPr>
          <a:xfrm>
            <a:off x="3459644" y="226243"/>
            <a:ext cx="6825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2060"/>
                </a:solidFill>
                <a:latin typeface="Arial Rounded MT Bold" panose="020F0704030504030204" pitchFamily="34" charset="0"/>
              </a:rPr>
              <a:t>Target Group associated with Load Balancer</a:t>
            </a:r>
          </a:p>
        </p:txBody>
      </p:sp>
    </p:spTree>
    <p:extLst>
      <p:ext uri="{BB962C8B-B14F-4D97-AF65-F5344CB8AC3E}">
        <p14:creationId xmlns:p14="http://schemas.microsoft.com/office/powerpoint/2010/main" val="33899074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B7446-DBDE-BC47-BB29-DFA82EC4A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2B6DC9-8937-4F8F-9297-2C381EF9C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71286"/>
            <a:ext cx="12192000" cy="5286713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8599E70-A579-FC2C-A179-21F8958515CF}"/>
              </a:ext>
            </a:extLst>
          </p:cNvPr>
          <p:cNvCxnSpPr>
            <a:cxnSpLocks/>
          </p:cNvCxnSpPr>
          <p:nvPr/>
        </p:nvCxnSpPr>
        <p:spPr>
          <a:xfrm>
            <a:off x="4138375" y="669301"/>
            <a:ext cx="3120264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2695E49-D92A-5456-F419-09895A00A72D}"/>
              </a:ext>
            </a:extLst>
          </p:cNvPr>
          <p:cNvSpPr txBox="1"/>
          <p:nvPr/>
        </p:nvSpPr>
        <p:spPr>
          <a:xfrm>
            <a:off x="4138375" y="226243"/>
            <a:ext cx="6825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2060"/>
                </a:solidFill>
                <a:latin typeface="Arial Rounded MT Bold" panose="020F0704030504030204" pitchFamily="34" charset="0"/>
              </a:rPr>
              <a:t>Application Load Balancer </a:t>
            </a:r>
          </a:p>
        </p:txBody>
      </p:sp>
    </p:spTree>
    <p:extLst>
      <p:ext uri="{BB962C8B-B14F-4D97-AF65-F5344CB8AC3E}">
        <p14:creationId xmlns:p14="http://schemas.microsoft.com/office/powerpoint/2010/main" val="3141688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51447-4C71-1BAE-5C21-28F1F0EE6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8E652F-024F-61E7-0683-07EE009897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107"/>
            <a:ext cx="12192000" cy="5889280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805AC33-54F4-2B5C-B491-536FF7D921D9}"/>
              </a:ext>
            </a:extLst>
          </p:cNvPr>
          <p:cNvCxnSpPr>
            <a:cxnSpLocks/>
          </p:cNvCxnSpPr>
          <p:nvPr/>
        </p:nvCxnSpPr>
        <p:spPr>
          <a:xfrm>
            <a:off x="2677212" y="669301"/>
            <a:ext cx="6966409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ADA463C-6213-4E85-994E-1496F5F0EBCF}"/>
              </a:ext>
            </a:extLst>
          </p:cNvPr>
          <p:cNvSpPr txBox="1"/>
          <p:nvPr/>
        </p:nvSpPr>
        <p:spPr>
          <a:xfrm>
            <a:off x="2677212" y="226243"/>
            <a:ext cx="7607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2060"/>
                </a:solidFill>
                <a:latin typeface="Arial Rounded MT Bold" panose="020F0704030504030204" pitchFamily="34" charset="0"/>
              </a:rPr>
              <a:t>Application successfully deployed and accessible on the web</a:t>
            </a:r>
          </a:p>
        </p:txBody>
      </p:sp>
    </p:spTree>
    <p:extLst>
      <p:ext uri="{BB962C8B-B14F-4D97-AF65-F5344CB8AC3E}">
        <p14:creationId xmlns:p14="http://schemas.microsoft.com/office/powerpoint/2010/main" val="30397395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24CBB-87F6-2045-B45C-08A2C9BEE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D83E0D-847C-5F81-76A5-A312037777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4" y="-26064"/>
            <a:ext cx="12186306" cy="6884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133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151</Words>
  <Application>Microsoft Office PowerPoint</Application>
  <PresentationFormat>Widescreen</PresentationFormat>
  <Paragraphs>25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Arial Rounded MT Bold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Swarup Das</dc:creator>
  <cp:lastModifiedBy>Swarup Das</cp:lastModifiedBy>
  <cp:revision>2</cp:revision>
  <dcterms:created xsi:type="dcterms:W3CDTF">2025-11-22T15:55:46Z</dcterms:created>
  <dcterms:modified xsi:type="dcterms:W3CDTF">2025-11-24T15:19:15Z</dcterms:modified>
</cp:coreProperties>
</file>